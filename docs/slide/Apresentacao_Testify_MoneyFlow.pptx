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640080"/>
            <a:ext cx="914400" cy="914400"/>
          </a:xfrm>
          <a:prstGeom prst="ellipse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95560" y="1143000"/>
            <a:ext cx="502920" cy="502920"/>
          </a:xfrm>
          <a:prstGeom prst="ellipse">
            <a:avLst/>
          </a:prstGeom>
          <a:solidFill>
            <a:srgbClr val="007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1828800"/>
            <a:ext cx="292608" cy="292608"/>
          </a:xfrm>
          <a:prstGeom prst="ellipse">
            <a:avLst/>
          </a:prstGeom>
          <a:solidFill>
            <a:srgbClr val="249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2148840"/>
            <a:ext cx="685800" cy="685800"/>
          </a:xfrm>
          <a:prstGeom prst="ellipse">
            <a:avLst/>
          </a:prstGeom>
          <a:solidFill>
            <a:srgbClr val="E6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658368"/>
            <a:ext cx="2331720" cy="329184"/>
          </a:xfrm>
          <a:prstGeom prst="roundRect">
            <a:avLst/>
          </a:prstGeom>
          <a:solidFill>
            <a:srgbClr val="00ADD8"/>
          </a:solidFill>
          <a:ln>
            <a:solidFill>
              <a:srgbClr val="00A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QUALIDADE E TESTE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17320"/>
            <a:ext cx="804672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3700" b="1" i="0">
                <a:solidFill>
                  <a:srgbClr val="182F3E"/>
                </a:solidFill>
                <a:latin typeface="Aptos"/>
              </a:rPr>
              <a:t>TESTIFY +
MONEYFLOW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337560"/>
            <a:ext cx="7498079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100" b="1" i="0">
                <a:solidFill>
                  <a:srgbClr val="007499"/>
                </a:solidFill>
                <a:latin typeface="Aptos"/>
              </a:rPr>
              <a:t>Da biblioteca de testes à aplicação prática em 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4160520"/>
            <a:ext cx="713232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500" b="0" i="0">
                <a:solidFill>
                  <a:srgbClr val="5B6F7A"/>
                </a:solidFill>
                <a:latin typeface="Aptos"/>
              </a:rPr>
              <a:t>Como o Testify apoia a verificação de regras de negócio, o isolamento de dependências e a organização dos testes automatizados.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6108192"/>
            <a:ext cx="4572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900" b="1" i="0">
                <a:solidFill>
                  <a:srgbClr val="007499"/>
                </a:solidFill>
                <a:latin typeface="Aptos"/>
              </a:rPr>
              <a:t>APRESENTAÇÃO TÉCNICA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900" b="1" i="0">
                <a:solidFill>
                  <a:srgbClr val="007499"/>
                </a:solidFill>
                <a:latin typeface="Aptos"/>
              </a:rPr>
              <a:t>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700" b="1" i="0">
                <a:solidFill>
                  <a:srgbClr val="182F3E"/>
                </a:solidFill>
                <a:latin typeface="Aptos"/>
              </a:rPr>
              <a:t>O que vamos apresentar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5B6F7A"/>
                </a:solidFill>
                <a:latin typeface="Aptos"/>
              </a:rPr>
              <a:t>Primeiro, entendemos a ferramenta. Depois, acompanhamos sua aplicação no MoneyFlow.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1" i="0">
                <a:solidFill>
                  <a:srgbClr val="5B6F7A"/>
                </a:solidFill>
                <a:latin typeface="Aptos"/>
              </a:rPr>
              <a:t>QUALIDADE E TESTE DE SOFTWARE  •  TESTIFY + MONEYFLOW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 i="0">
                <a:solidFill>
                  <a:srgbClr val="007499"/>
                </a:solidFill>
                <a:latin typeface="Aptos"/>
              </a:rPr>
              <a:t>02</a:t>
            </a:r>
          </a:p>
        </p:txBody>
      </p:sp>
      <p:sp>
        <p:nvSpPr>
          <p:cNvPr id="8" name="Oval 7"/>
          <p:cNvSpPr/>
          <p:nvPr/>
        </p:nvSpPr>
        <p:spPr>
          <a:xfrm>
            <a:off x="1161288" y="2057400"/>
            <a:ext cx="640080" cy="640080"/>
          </a:xfrm>
          <a:prstGeom prst="ellipse">
            <a:avLst/>
          </a:prstGeom>
          <a:solidFill>
            <a:srgbClr val="00ADD8"/>
          </a:solidFill>
          <a:ln>
            <a:solidFill>
              <a:srgbClr val="00A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52928"/>
            <a:ext cx="16916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600" b="1" i="0">
                <a:solidFill>
                  <a:srgbClr val="182F3E"/>
                </a:solidFill>
                <a:latin typeface="Aptos"/>
              </a:rPr>
              <a:t>Testify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3310128"/>
            <a:ext cx="196596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0" i="0">
                <a:solidFill>
                  <a:srgbClr val="5B6F7A"/>
                </a:solidFill>
                <a:latin typeface="Aptos"/>
              </a:rPr>
              <a:t>O que é e quais recursos oferece.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2377440"/>
            <a:ext cx="1042415" cy="0"/>
          </a:xfrm>
          <a:prstGeom prst="line">
            <a:avLst/>
          </a:prstGeom>
          <a:ln w="25400">
            <a:solidFill>
              <a:srgbClr val="D0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465576" y="2057400"/>
            <a:ext cx="640080" cy="640080"/>
          </a:xfrm>
          <a:prstGeom prst="ellipse">
            <a:avLst/>
          </a:prstGeom>
          <a:solidFill>
            <a:srgbClr val="00ADD8"/>
          </a:solidFill>
          <a:ln>
            <a:solidFill>
              <a:srgbClr val="00A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852928"/>
            <a:ext cx="16916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600" b="1" i="0">
                <a:solidFill>
                  <a:srgbClr val="182F3E"/>
                </a:solidFill>
                <a:latin typeface="Aptos"/>
              </a:rPr>
              <a:t>Contexto 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5496" y="3310128"/>
            <a:ext cx="196596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0" i="0">
                <a:solidFill>
                  <a:srgbClr val="5B6F7A"/>
                </a:solidFill>
                <a:latin typeface="Aptos"/>
              </a:rPr>
              <a:t>Como os testes automatizados funcionam.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33088" y="2377440"/>
            <a:ext cx="1042416" cy="0"/>
          </a:xfrm>
          <a:prstGeom prst="line">
            <a:avLst/>
          </a:prstGeom>
          <a:ln w="25400">
            <a:solidFill>
              <a:srgbClr val="D0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769864" y="2057400"/>
            <a:ext cx="640080" cy="640080"/>
          </a:xfrm>
          <a:prstGeom prst="ellipse">
            <a:avLst/>
          </a:prstGeom>
          <a:solidFill>
            <a:srgbClr val="00ADD8"/>
          </a:solidFill>
          <a:ln>
            <a:solidFill>
              <a:srgbClr val="00A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44" y="2852928"/>
            <a:ext cx="16916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600" b="1" i="0">
                <a:solidFill>
                  <a:srgbClr val="182F3E"/>
                </a:solidFill>
                <a:latin typeface="Aptos"/>
              </a:rPr>
              <a:t>MoneyFlow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3" y="3310128"/>
            <a:ext cx="196596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0" i="0">
                <a:solidFill>
                  <a:srgbClr val="5B6F7A"/>
                </a:solidFill>
                <a:latin typeface="Aptos"/>
              </a:rPr>
              <a:t>Projeto, componentes e regras de negócio.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37376" y="2377440"/>
            <a:ext cx="1042416" cy="0"/>
          </a:xfrm>
          <a:prstGeom prst="line">
            <a:avLst/>
          </a:prstGeom>
          <a:ln w="25400">
            <a:solidFill>
              <a:srgbClr val="D0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74152" y="2057400"/>
            <a:ext cx="640080" cy="640080"/>
          </a:xfrm>
          <a:prstGeom prst="ellipse">
            <a:avLst/>
          </a:prstGeom>
          <a:solidFill>
            <a:srgbClr val="00ADD8"/>
          </a:solidFill>
          <a:ln>
            <a:solidFill>
              <a:srgbClr val="00A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2" y="2852928"/>
            <a:ext cx="16916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600" b="1" i="0">
                <a:solidFill>
                  <a:srgbClr val="182F3E"/>
                </a:solidFill>
                <a:latin typeface="Aptos"/>
              </a:rPr>
              <a:t>Aplicação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4072" y="3310128"/>
            <a:ext cx="196596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0" i="0">
                <a:solidFill>
                  <a:srgbClr val="5B6F7A"/>
                </a:solidFill>
                <a:latin typeface="Aptos"/>
              </a:rPr>
              <a:t>Como assert, require, mock e suite foram usados.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41664" y="2377440"/>
            <a:ext cx="1042416" cy="0"/>
          </a:xfrm>
          <a:prstGeom prst="line">
            <a:avLst/>
          </a:prstGeom>
          <a:ln w="25400">
            <a:solidFill>
              <a:srgbClr val="D0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378440" y="2057400"/>
            <a:ext cx="640080" cy="640080"/>
          </a:xfrm>
          <a:prstGeom prst="ellipse">
            <a:avLst/>
          </a:prstGeom>
          <a:solidFill>
            <a:srgbClr val="007499"/>
          </a:solidFill>
          <a:ln>
            <a:solidFill>
              <a:srgbClr val="007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852928"/>
            <a:ext cx="16916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600" b="1" i="0">
                <a:solidFill>
                  <a:srgbClr val="182F3E"/>
                </a:solidFill>
                <a:latin typeface="Aptos"/>
              </a:rPr>
              <a:t>Resultados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3310128"/>
            <a:ext cx="196596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0" i="0">
                <a:solidFill>
                  <a:srgbClr val="5B6F7A"/>
                </a:solidFill>
                <a:latin typeface="Aptos"/>
              </a:rPr>
              <a:t>Cenários, benefícios e pontos de atenção.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900" b="1" i="0">
                <a:solidFill>
                  <a:srgbClr val="007499"/>
                </a:solidFill>
                <a:latin typeface="Aptos"/>
              </a:rPr>
              <a:t>PARTE 1 • A FERRAMENTA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700" b="1" i="0">
                <a:solidFill>
                  <a:srgbClr val="182F3E"/>
                </a:solidFill>
                <a:latin typeface="Aptos"/>
              </a:rPr>
              <a:t>O que é o Testify?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5B6F7A"/>
                </a:solidFill>
                <a:latin typeface="Aptos"/>
              </a:rPr>
              <a:t>Uma biblioteca de código aberto que complementa o sistema nativo de testes da linguagem 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1" i="0">
                <a:solidFill>
                  <a:srgbClr val="5B6F7A"/>
                </a:solidFill>
                <a:latin typeface="Aptos"/>
              </a:rPr>
              <a:t>QUALIDADE E TESTE DE SOFTWARE  •  TESTIFY + MONEYFLOW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 i="0">
                <a:solidFill>
                  <a:srgbClr val="007499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737360"/>
            <a:ext cx="548640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400" b="1" i="0">
                <a:solidFill>
                  <a:srgbClr val="182F3E"/>
                </a:solidFill>
                <a:latin typeface="Aptos"/>
              </a:rPr>
              <a:t>Testify torna os testes mais expressivos e organizados.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97480"/>
            <a:ext cx="5486400" cy="2377440"/>
          </a:xfrm>
          <a:prstGeom prst="rect">
            <a:avLst/>
          </a:prstGeom>
          <a:noFill/>
        </p:spPr>
        <p:txBody>
          <a:bodyPr wrap="square" lIns="36576" rIns="36576" tIns="27432">
            <a:norm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00ADD8"/>
                </a:solidFill>
                <a:latin typeface="Aptos"/>
              </a:rPr>
              <a:t>•  </a:t>
            </a:r>
            <a:r>
              <a:rPr sz="1700">
                <a:solidFill>
                  <a:srgbClr val="263238"/>
                </a:solidFill>
                <a:latin typeface="Aptos"/>
              </a:rPr>
              <a:t>Facilita a verificação de resultados e condições esperadas.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0ADD8"/>
                </a:solidFill>
                <a:latin typeface="Aptos"/>
              </a:rPr>
              <a:t>•  </a:t>
            </a:r>
            <a:r>
              <a:rPr sz="1700">
                <a:solidFill>
                  <a:srgbClr val="263238"/>
                </a:solidFill>
                <a:latin typeface="Aptos"/>
              </a:rPr>
              <a:t>Permite simular dependências para testar componentes isoladamente.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0ADD8"/>
                </a:solidFill>
                <a:latin typeface="Aptos"/>
              </a:rPr>
              <a:t>•  </a:t>
            </a:r>
            <a:r>
              <a:rPr sz="1700">
                <a:solidFill>
                  <a:srgbClr val="263238"/>
                </a:solidFill>
                <a:latin typeface="Aptos"/>
              </a:rPr>
              <a:t>Ajuda a agrupar testes relacionados em suítes.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874519"/>
            <a:ext cx="4800600" cy="3154680"/>
          </a:xfrm>
          <a:prstGeom prst="roundRect">
            <a:avLst/>
          </a:prstGeom>
          <a:solidFill>
            <a:srgbClr val="152B38"/>
          </a:solidFill>
          <a:ln>
            <a:solidFill>
              <a:srgbClr val="15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37160" tIns="109728" bIns="91440">
            <a:normAutofit/>
          </a:bodyPr>
          <a:lstStyle/>
          <a:p>
            <a:pPr algn="ctr">
              <a:spcAft>
                <a:spcPts val="100"/>
              </a:spcAft>
            </a:pPr>
            <a:r>
              <a:rPr sz="1500">
                <a:solidFill>
                  <a:srgbClr val="E2F2F7"/>
                </a:solidFill>
                <a:latin typeface="Consolas"/>
              </a:rPr>
              <a:t>// Exemplo de verificação</a:t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E2F2F7"/>
                </a:solidFill>
                <a:latin typeface="Consolas"/>
              </a:rPr>
              <a:t>func TestSoma(t *testing.T) {</a:t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E2F2F7"/>
                </a:solidFill>
                <a:latin typeface="Consolas"/>
              </a:rPr>
              <a:t>    resultado := 2 + 3</a:t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E2F2F7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E2F2F7"/>
                </a:solidFill>
                <a:latin typeface="Consolas"/>
              </a:rPr>
              <a:t>    assert.Equal(t, 5, resultado)</a:t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E2F2F7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5257800"/>
            <a:ext cx="1920240" cy="329184"/>
          </a:xfrm>
          <a:prstGeom prst="roundRect">
            <a:avLst/>
          </a:prstGeom>
          <a:solidFill>
            <a:srgbClr val="249B74"/>
          </a:solidFill>
          <a:ln>
            <a:solidFill>
              <a:srgbClr val="249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COMPLEMENTAR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900" b="1" i="0">
                <a:solidFill>
                  <a:srgbClr val="007499"/>
                </a:solidFill>
                <a:latin typeface="Aptos"/>
              </a:rPr>
              <a:t>PARTE 1 • A FERRAMENTA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700" b="1" i="0">
                <a:solidFill>
                  <a:srgbClr val="182F3E"/>
                </a:solidFill>
                <a:latin typeface="Aptos"/>
              </a:rPr>
              <a:t>Antes do Testify: testes em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5B6F7A"/>
                </a:solidFill>
                <a:latin typeface="Aptos"/>
              </a:rPr>
              <a:t>Go já possui uma estrutura nativa para escrever e executar testes automatizados.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1" i="0">
                <a:solidFill>
                  <a:srgbClr val="5B6F7A"/>
                </a:solidFill>
                <a:latin typeface="Aptos"/>
              </a:rPr>
              <a:t>QUALIDADE E TESTE DE SOFTWARE  •  TESTIFY + MONEYFLOW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 i="0">
                <a:solidFill>
                  <a:srgbClr val="007499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29000" cy="182880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38528"/>
            <a:ext cx="64008" cy="1609344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75104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95728"/>
            <a:ext cx="3044952" cy="1161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500" b="0" i="0">
                <a:solidFill>
                  <a:srgbClr val="263238"/>
                </a:solidFill>
                <a:latin typeface="Aptos"/>
              </a:rPr>
              <a:t>Pacote padrão que fornece a estrutura básica dos testes.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29000" cy="182880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38528"/>
            <a:ext cx="64008" cy="1609344"/>
          </a:xfrm>
          <a:prstGeom prst="rect">
            <a:avLst/>
          </a:prstGeom>
          <a:solidFill>
            <a:srgbClr val="007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975104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_test.go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95728"/>
            <a:ext cx="3044952" cy="1161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500" b="0" i="0">
                <a:solidFill>
                  <a:srgbClr val="263238"/>
                </a:solidFill>
                <a:latin typeface="Aptos"/>
              </a:rPr>
              <a:t>Os arquivos de teste normalmente usam esse sufixo; funções começam com Test.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28800"/>
            <a:ext cx="3429000" cy="182880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938528"/>
            <a:ext cx="64008" cy="1609344"/>
          </a:xfrm>
          <a:prstGeom prst="rect">
            <a:avLst/>
          </a:prstGeom>
          <a:solidFill>
            <a:srgbClr val="249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975104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go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395728"/>
            <a:ext cx="3044952" cy="1161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500" b="0" i="0">
                <a:solidFill>
                  <a:srgbClr val="263238"/>
                </a:solidFill>
                <a:latin typeface="Aptos"/>
              </a:rPr>
              <a:t>Comando que compila e executa os testes encontrados.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160520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700" b="1" i="0">
                <a:solidFill>
                  <a:srgbClr val="182F3E"/>
                </a:solidFill>
                <a:latin typeface="Aptos"/>
              </a:rPr>
              <a:t>O papel do Testify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572000"/>
            <a:ext cx="1051560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000" b="0" i="0">
                <a:solidFill>
                  <a:srgbClr val="263238"/>
                </a:solidFill>
                <a:latin typeface="Aptos"/>
              </a:rPr>
              <a:t>Ele não substitui o pacote testing. Entra como complemento, oferecendo recursos para assertions, mocks e suites.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900" b="1" i="0">
                <a:solidFill>
                  <a:srgbClr val="007499"/>
                </a:solidFill>
                <a:latin typeface="Aptos"/>
              </a:rPr>
              <a:t>PARTE 1 • A FERRAMENTA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700" b="1" i="0">
                <a:solidFill>
                  <a:srgbClr val="182F3E"/>
                </a:solidFill>
                <a:latin typeface="Aptos"/>
              </a:rPr>
              <a:t>Os quatro recursos principais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5B6F7A"/>
                </a:solidFill>
                <a:latin typeface="Aptos"/>
              </a:rPr>
              <a:t>Cada pacote atende a uma necessidade diferente durante a construção dos testes.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1" i="0">
                <a:solidFill>
                  <a:srgbClr val="5B6F7A"/>
                </a:solidFill>
                <a:latin typeface="Aptos"/>
              </a:rPr>
              <a:t>QUALIDADE E TESTE DE SOFTWARE  •  TESTIFY + MONEYFLOW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 i="0">
                <a:solidFill>
                  <a:srgbClr val="007499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257800" cy="164592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38528"/>
            <a:ext cx="64008" cy="1426464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75104"/>
            <a:ext cx="48920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assert  •  Verificar resultados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95728"/>
            <a:ext cx="4873752" cy="9784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0" i="0">
                <a:solidFill>
                  <a:srgbClr val="263238"/>
                </a:solidFill>
                <a:latin typeface="Aptos"/>
              </a:rPr>
              <a:t>Compara valores e condições. A falha é registrada e o teste pode continuar.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57800" cy="164592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38528"/>
            <a:ext cx="64008" cy="1426464"/>
          </a:xfrm>
          <a:prstGeom prst="rect">
            <a:avLst/>
          </a:prstGeom>
          <a:solidFill>
            <a:srgbClr val="007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975104"/>
            <a:ext cx="48920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require  •  Garantir pré-condições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95728"/>
            <a:ext cx="4873752" cy="9784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0" i="0">
                <a:solidFill>
                  <a:srgbClr val="263238"/>
                </a:solidFill>
                <a:latin typeface="Aptos"/>
              </a:rPr>
              <a:t>Faz verificações essenciais. Se falhar, interrompe o teste atual.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86200"/>
            <a:ext cx="5257800" cy="164592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995928"/>
            <a:ext cx="64008" cy="1426464"/>
          </a:xfrm>
          <a:prstGeom prst="rect">
            <a:avLst/>
          </a:prstGeom>
          <a:solidFill>
            <a:srgbClr val="249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032504"/>
            <a:ext cx="48920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mock  •  Simular dependências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453128"/>
            <a:ext cx="4873752" cy="9784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0" i="0">
                <a:solidFill>
                  <a:srgbClr val="263238"/>
                </a:solidFill>
                <a:latin typeface="Aptos"/>
              </a:rPr>
              <a:t>Define respostas esperadas e permite conferir chamadas e argumentos.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86200"/>
            <a:ext cx="5257800" cy="164592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995928"/>
            <a:ext cx="64008" cy="1426464"/>
          </a:xfrm>
          <a:prstGeom prst="rect">
            <a:avLst/>
          </a:prstGeom>
          <a:solidFill>
            <a:srgbClr val="E0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4032504"/>
            <a:ext cx="48920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suite  •  Organizar cenários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453128"/>
            <a:ext cx="4873752" cy="9784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0" i="0">
                <a:solidFill>
                  <a:srgbClr val="263238"/>
                </a:solidFill>
                <a:latin typeface="Aptos"/>
              </a:rPr>
              <a:t>Agrupa testes relacionados e centraliza preparação e finalização.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900" b="1" i="0">
                <a:solidFill>
                  <a:srgbClr val="007499"/>
                </a:solidFill>
                <a:latin typeface="Aptos"/>
              </a:rPr>
              <a:t>PARTE 1 • A FERRAMENTA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700" b="1" i="0">
                <a:solidFill>
                  <a:srgbClr val="182F3E"/>
                </a:solidFill>
                <a:latin typeface="Aptos"/>
              </a:rPr>
              <a:t>assert x require: qual é a diferença?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5B6F7A"/>
                </a:solidFill>
                <a:latin typeface="Aptos"/>
              </a:rPr>
              <a:t>A escolha depende de o teste poder continuar depois de uma falha.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1" i="0">
                <a:solidFill>
                  <a:srgbClr val="5B6F7A"/>
                </a:solidFill>
                <a:latin typeface="Aptos"/>
              </a:rPr>
              <a:t>QUALIDADE E TESTE DE SOFTWARE  •  TESTIFY + MONEYFLOW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 i="0">
                <a:solidFill>
                  <a:srgbClr val="007499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66360" cy="246888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38528"/>
            <a:ext cx="64008" cy="2249424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4800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assert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4782312" cy="1801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0" i="0">
                <a:solidFill>
                  <a:srgbClr val="263238"/>
                </a:solidFill>
                <a:latin typeface="Aptos"/>
              </a:rPr>
              <a:t>Registra a falha, mas permite que as próximas verificações sejam executadas.
Use quando outras verificações ainda podem trazer informações úteis.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166360" cy="246888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938528"/>
            <a:ext cx="64008" cy="2249424"/>
          </a:xfrm>
          <a:prstGeom prst="rect">
            <a:avLst/>
          </a:prstGeom>
          <a:solidFill>
            <a:srgbClr val="007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975104"/>
            <a:ext cx="4800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require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395728"/>
            <a:ext cx="4782312" cy="1801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0" i="0">
                <a:solidFill>
                  <a:srgbClr val="263238"/>
                </a:solidFill>
                <a:latin typeface="Aptos"/>
              </a:rPr>
              <a:t>Registra a falha e interrompe o teste atual.
Use quando a próxima etapa depende de uma condição essencial.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63440"/>
            <a:ext cx="10607040" cy="1051560"/>
          </a:xfrm>
          <a:prstGeom prst="roundRect">
            <a:avLst/>
          </a:prstGeom>
          <a:solidFill>
            <a:srgbClr val="152B38"/>
          </a:solidFill>
          <a:ln>
            <a:solidFill>
              <a:srgbClr val="15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37160" tIns="109728" bIns="91440">
            <a:normAutofit/>
          </a:bodyPr>
          <a:lstStyle/>
          <a:p>
            <a:pPr algn="ctr">
              <a:spcAft>
                <a:spcPts val="100"/>
              </a:spcAft>
            </a:pPr>
            <a:r>
              <a:rPr sz="1300">
                <a:solidFill>
                  <a:srgbClr val="E2F2F7"/>
                </a:solidFill>
                <a:latin typeface="Consolas"/>
              </a:rPr>
              <a:t>require.NoError(t, err)       // garante que a criação funcionou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2F2F7"/>
                </a:solidFill>
                <a:latin typeface="Consolas"/>
              </a:rPr>
              <a:t>assert.Equal(t, "Café", got.Description)  // verifica o resultado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900" b="1" i="0">
                <a:solidFill>
                  <a:srgbClr val="007499"/>
                </a:solidFill>
                <a:latin typeface="Aptos"/>
              </a:rPr>
              <a:t>PARTE 1 • A FERRAMENTA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700" b="1" i="0">
                <a:solidFill>
                  <a:srgbClr val="182F3E"/>
                </a:solidFill>
                <a:latin typeface="Aptos"/>
              </a:rPr>
              <a:t>mock: controlando dependências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5B6F7A"/>
                </a:solidFill>
                <a:latin typeface="Aptos"/>
              </a:rPr>
              <a:t>O teste programa como uma dependência deve responder e verifica se a interação ocorreu como esperado.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1" i="0">
                <a:solidFill>
                  <a:srgbClr val="5B6F7A"/>
                </a:solidFill>
                <a:latin typeface="Aptos"/>
              </a:rPr>
              <a:t>QUALIDADE E TESTE DE SOFTWARE  •  TESTIFY + MONEYFLOW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 i="0">
                <a:solidFill>
                  <a:srgbClr val="007499"/>
                </a:solidFill>
                <a:latin typeface="Aptos"/>
              </a:rPr>
              <a:t>07</a:t>
            </a:r>
          </a:p>
        </p:txBody>
      </p:sp>
      <p:sp>
        <p:nvSpPr>
          <p:cNvPr id="8" name="Oval 7"/>
          <p:cNvSpPr/>
          <p:nvPr/>
        </p:nvSpPr>
        <p:spPr>
          <a:xfrm>
            <a:off x="1554480" y="1828800"/>
            <a:ext cx="594360" cy="594360"/>
          </a:xfrm>
          <a:prstGeom prst="ellipse">
            <a:avLst/>
          </a:prstGeom>
          <a:solidFill>
            <a:srgbClr val="00ADD8"/>
          </a:solidFill>
          <a:ln>
            <a:solidFill>
              <a:srgbClr val="00A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700" b="1" i="0">
                <a:solidFill>
                  <a:srgbClr val="182F3E"/>
                </a:solidFill>
                <a:latin typeface="Aptos"/>
              </a:rPr>
              <a:t>Configurar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23774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0" i="0">
                <a:solidFill>
                  <a:srgbClr val="5B6F7A"/>
                </a:solidFill>
                <a:latin typeface="Aptos"/>
              </a:rPr>
              <a:t>On(...).Return(...)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121408"/>
            <a:ext cx="2240280" cy="0"/>
          </a:xfrm>
          <a:prstGeom prst="line">
            <a:avLst/>
          </a:prstGeom>
          <a:ln w="25400">
            <a:solidFill>
              <a:srgbClr val="D0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349240" y="1828800"/>
            <a:ext cx="594360" cy="594360"/>
          </a:xfrm>
          <a:prstGeom prst="ellipse">
            <a:avLst/>
          </a:prstGeom>
          <a:solidFill>
            <a:srgbClr val="00ADD8"/>
          </a:solidFill>
          <a:ln>
            <a:solidFill>
              <a:srgbClr val="00A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06040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700" b="1" i="0">
                <a:solidFill>
                  <a:srgbClr val="182F3E"/>
                </a:solidFill>
                <a:latin typeface="Aptos"/>
              </a:rPr>
              <a:t>Executar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063240"/>
            <a:ext cx="23774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0" i="0">
                <a:solidFill>
                  <a:srgbClr val="5B6F7A"/>
                </a:solidFill>
                <a:latin typeface="Aptos"/>
              </a:rPr>
              <a:t>Chamar o serviço real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5040" y="2121408"/>
            <a:ext cx="2240280" cy="0"/>
          </a:xfrm>
          <a:prstGeom prst="line">
            <a:avLst/>
          </a:prstGeom>
          <a:ln w="25400">
            <a:solidFill>
              <a:srgbClr val="D0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144000" y="1828800"/>
            <a:ext cx="594360" cy="594360"/>
          </a:xfrm>
          <a:prstGeom prst="ellipse">
            <a:avLst/>
          </a:prstGeom>
          <a:solidFill>
            <a:srgbClr val="249B74"/>
          </a:solidFill>
          <a:ln>
            <a:solidFill>
              <a:srgbClr val="249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06040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700" b="1" i="0">
                <a:solidFill>
                  <a:srgbClr val="182F3E"/>
                </a:solidFill>
                <a:latin typeface="Aptos"/>
              </a:rPr>
              <a:t>Verificar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063240"/>
            <a:ext cx="23774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0" i="0">
                <a:solidFill>
                  <a:srgbClr val="5B6F7A"/>
                </a:solidFill>
                <a:latin typeface="Aptos"/>
              </a:rPr>
              <a:t>AssertExpectations(t)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160520"/>
            <a:ext cx="10607040" cy="1417320"/>
          </a:xfrm>
          <a:prstGeom prst="roundRect">
            <a:avLst/>
          </a:prstGeom>
          <a:solidFill>
            <a:srgbClr val="152B38"/>
          </a:solidFill>
          <a:ln>
            <a:solidFill>
              <a:srgbClr val="15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37160" tIns="109728" bIns="91440">
            <a:normAutofit/>
          </a:bodyPr>
          <a:lstStyle/>
          <a:p>
            <a:pPr algn="ctr">
              <a:spcAft>
                <a:spcPts val="100"/>
              </a:spcAft>
            </a:pPr>
            <a:r>
              <a:rPr sz="1300">
                <a:solidFill>
                  <a:srgbClr val="E2F2F7"/>
                </a:solidFill>
                <a:latin typeface="Consolas"/>
              </a:rPr>
              <a:t>repo.On("Save", ctx, want).Return(nil).Once()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2F2F7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2F2F7"/>
                </a:solidFill>
                <a:latin typeface="Consolas"/>
              </a:rPr>
              <a:t>got, err := svc.CreateExpense(ctx, "Almoço", 1990, "alimentacao")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2F2F7"/>
                </a:solidFill>
                <a:latin typeface="Consolas"/>
              </a:rPr>
              <a:t>require.NoError(t, err)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2F2F7"/>
                </a:solidFill>
                <a:latin typeface="Consolas"/>
              </a:rPr>
              <a:t>repo.AssertExpectations(t)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900" b="1" i="0">
                <a:solidFill>
                  <a:srgbClr val="007499"/>
                </a:solidFill>
                <a:latin typeface="Aptos"/>
              </a:rPr>
              <a:t>PARTE 1 • A FERRAMENTA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700" b="1" i="0">
                <a:solidFill>
                  <a:srgbClr val="182F3E"/>
                </a:solidFill>
                <a:latin typeface="Aptos"/>
              </a:rPr>
              <a:t>suite: organização de testes relacionados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5B6F7A"/>
                </a:solidFill>
                <a:latin typeface="Aptos"/>
              </a:rPr>
              <a:t>Uma suíte reúne cenários de uma mesma área e pode compartilhar a preparação do ambiente de teste.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1" i="0">
                <a:solidFill>
                  <a:srgbClr val="5B6F7A"/>
                </a:solidFill>
                <a:latin typeface="Aptos"/>
              </a:rPr>
              <a:t>QUALIDADE E TESTE DE SOFTWARE  •  TESTIFY + MONEYFLOW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 i="0">
                <a:solidFill>
                  <a:srgbClr val="007499"/>
                </a:solidFill>
                <a:latin typeface="Apto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47548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100" b="1" i="0">
                <a:solidFill>
                  <a:srgbClr val="182F3E"/>
                </a:solidFill>
                <a:latin typeface="Aptos"/>
              </a:rPr>
              <a:t>Ciclo de vida no Testify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560320"/>
            <a:ext cx="347472" cy="347472"/>
          </a:xfrm>
          <a:prstGeom prst="ellipse">
            <a:avLst/>
          </a:prstGeom>
          <a:solidFill>
            <a:srgbClr val="00ADD8"/>
          </a:solidFill>
          <a:ln>
            <a:solidFill>
              <a:srgbClr val="00A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551176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182F3E"/>
                </a:solidFill>
                <a:latin typeface="Aptos"/>
              </a:rPr>
              <a:t>SetupSuite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551176"/>
            <a:ext cx="3200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200" b="0" i="0">
                <a:solidFill>
                  <a:srgbClr val="5B6F7A"/>
                </a:solidFill>
                <a:latin typeface="Aptos"/>
              </a:rPr>
              <a:t>Uma vez, antes de toda a suíte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218687"/>
            <a:ext cx="347472" cy="347472"/>
          </a:xfrm>
          <a:prstGeom prst="ellipse">
            <a:avLst/>
          </a:prstGeom>
          <a:solidFill>
            <a:srgbClr val="00ADD8"/>
          </a:solidFill>
          <a:ln>
            <a:solidFill>
              <a:srgbClr val="00A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209544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182F3E"/>
                </a:solidFill>
                <a:latin typeface="Aptos"/>
              </a:rPr>
              <a:t>SetupTest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209544"/>
            <a:ext cx="3200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200" b="0" i="0">
                <a:solidFill>
                  <a:srgbClr val="5B6F7A"/>
                </a:solidFill>
                <a:latin typeface="Aptos"/>
              </a:rPr>
              <a:t>Antes de cada teste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877056"/>
            <a:ext cx="347472" cy="347472"/>
          </a:xfrm>
          <a:prstGeom prst="ellipse">
            <a:avLst/>
          </a:prstGeom>
          <a:solidFill>
            <a:srgbClr val="00ADD8"/>
          </a:solidFill>
          <a:ln>
            <a:solidFill>
              <a:srgbClr val="00A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867912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182F3E"/>
                </a:solidFill>
                <a:latin typeface="Aptos"/>
              </a:rPr>
              <a:t>Teste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867912"/>
            <a:ext cx="3200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200" b="0" i="0">
                <a:solidFill>
                  <a:srgbClr val="5B6F7A"/>
                </a:solidFill>
                <a:latin typeface="Aptos"/>
              </a:rPr>
              <a:t>Executa o cenário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535424"/>
            <a:ext cx="347472" cy="347472"/>
          </a:xfrm>
          <a:prstGeom prst="ellipse">
            <a:avLst/>
          </a:prstGeom>
          <a:solidFill>
            <a:srgbClr val="007499"/>
          </a:solidFill>
          <a:ln>
            <a:solidFill>
              <a:srgbClr val="007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26280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182F3E"/>
                </a:solidFill>
                <a:latin typeface="Aptos"/>
              </a:rPr>
              <a:t>TearDownTest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526280"/>
            <a:ext cx="3200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200" b="0" i="0">
                <a:solidFill>
                  <a:srgbClr val="5B6F7A"/>
                </a:solidFill>
                <a:latin typeface="Aptos"/>
              </a:rPr>
              <a:t>Ao final de cada teste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5193792"/>
            <a:ext cx="347472" cy="347472"/>
          </a:xfrm>
          <a:prstGeom prst="ellipse">
            <a:avLst/>
          </a:prstGeom>
          <a:solidFill>
            <a:srgbClr val="007499"/>
          </a:solidFill>
          <a:ln>
            <a:solidFill>
              <a:srgbClr val="007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184648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182F3E"/>
                </a:solidFill>
                <a:latin typeface="Aptos"/>
              </a:rPr>
              <a:t>TearDownSuite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5184648"/>
            <a:ext cx="3200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200" b="0" i="0">
                <a:solidFill>
                  <a:srgbClr val="5B6F7A"/>
                </a:solidFill>
                <a:latin typeface="Aptos"/>
              </a:rPr>
              <a:t>Uma vez, ao final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828800"/>
            <a:ext cx="4343400" cy="201168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03720" y="1938528"/>
            <a:ext cx="64008" cy="1792224"/>
          </a:xfrm>
          <a:prstGeom prst="rect">
            <a:avLst/>
          </a:prstGeom>
          <a:solidFill>
            <a:srgbClr val="249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4888" y="1975104"/>
            <a:ext cx="397763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No MoneyFlow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2395728"/>
            <a:ext cx="3959352" cy="1344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500" b="0" i="0">
                <a:solidFill>
                  <a:srgbClr val="263238"/>
                </a:solidFill>
                <a:latin typeface="Aptos"/>
              </a:rPr>
              <a:t>ServiceSuite agrupa os cenários do Service. O método reset cria um repositório novo, um notificador mockado e um novo Service para isolar os testes.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4160520"/>
            <a:ext cx="41148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CF4B4B"/>
                </a:solidFill>
                <a:latin typeface="Aptos"/>
              </a:rPr>
              <a:t>Ponto de atenção: suites do Testify não oferecem suporte a t.Parallel().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900" b="1" i="0">
                <a:solidFill>
                  <a:srgbClr val="007499"/>
                </a:solidFill>
                <a:latin typeface="Aptos"/>
              </a:rPr>
              <a:t>PARTE 2 • APLICAÇÃO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700" b="1" i="0">
                <a:solidFill>
                  <a:srgbClr val="182F3E"/>
                </a:solidFill>
                <a:latin typeface="Aptos"/>
              </a:rPr>
              <a:t>O projeto MoneyFlow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5B6F7A"/>
                </a:solidFill>
                <a:latin typeface="Aptos"/>
              </a:rPr>
              <a:t>Um projeto demonstrativo em Go usado para mostrar o Testify verificando regras de negócio.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1" i="0">
                <a:solidFill>
                  <a:srgbClr val="5B6F7A"/>
                </a:solidFill>
                <a:latin typeface="Aptos"/>
              </a:rPr>
              <a:t>QUALIDADE E TESTE DE SOFTWARE  •  TESTIFY + MONEYFLOW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 i="0">
                <a:solidFill>
                  <a:srgbClr val="007499"/>
                </a:solidFill>
                <a:latin typeface="Apto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52120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300" b="1" i="0">
                <a:solidFill>
                  <a:srgbClr val="182F3E"/>
                </a:solidFill>
                <a:latin typeface="Aptos"/>
              </a:rPr>
              <a:t>Controle de despesas com orçamento definido.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5029200" cy="2286000"/>
          </a:xfrm>
          <a:prstGeom prst="rect">
            <a:avLst/>
          </a:prstGeom>
          <a:noFill/>
        </p:spPr>
        <p:txBody>
          <a:bodyPr wrap="square" lIns="36576" rIns="36576" tIns="27432">
            <a:norm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0ADD8"/>
                </a:solidFill>
                <a:latin typeface="Aptos"/>
              </a:rPr>
              <a:t>•  </a:t>
            </a:r>
            <a:r>
              <a:rPr sz="1600">
                <a:solidFill>
                  <a:srgbClr val="263238"/>
                </a:solidFill>
                <a:latin typeface="Aptos"/>
              </a:rPr>
              <a:t>Cadastrar despesas.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0ADD8"/>
                </a:solidFill>
                <a:latin typeface="Aptos"/>
              </a:rPr>
              <a:t>•  </a:t>
            </a:r>
            <a:r>
              <a:rPr sz="1600">
                <a:solidFill>
                  <a:srgbClr val="263238"/>
                </a:solidFill>
                <a:latin typeface="Aptos"/>
              </a:rPr>
              <a:t>Consultar o saldo disponível.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0ADD8"/>
                </a:solidFill>
                <a:latin typeface="Aptos"/>
              </a:rPr>
              <a:t>•  </a:t>
            </a:r>
            <a:r>
              <a:rPr sz="1600">
                <a:solidFill>
                  <a:srgbClr val="263238"/>
                </a:solidFill>
                <a:latin typeface="Aptos"/>
              </a:rPr>
              <a:t>Listar o histórico de despesas.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0ADD8"/>
                </a:solidFill>
                <a:latin typeface="Aptos"/>
              </a:rPr>
              <a:t>•  </a:t>
            </a:r>
            <a:r>
              <a:rPr sz="1600">
                <a:solidFill>
                  <a:srgbClr val="263238"/>
                </a:solidFill>
                <a:latin typeface="Aptos"/>
              </a:rPr>
              <a:t>Notificar quando o orçamento é totalmente consumido.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4663440" cy="182880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938528"/>
            <a:ext cx="64008" cy="1609344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975104"/>
            <a:ext cx="42976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Escopo da demonstração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395728"/>
            <a:ext cx="4279392" cy="1161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0" i="0">
                <a:solidFill>
                  <a:srgbClr val="263238"/>
                </a:solidFill>
                <a:latin typeface="Aptos"/>
              </a:rPr>
              <a:t>Armazenamento em memória. Não utiliza banco de dados nem comunicação HTTP.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069080"/>
            <a:ext cx="2286000" cy="329184"/>
          </a:xfrm>
          <a:prstGeom prst="roundRect">
            <a:avLst/>
          </a:prstGeom>
          <a:solidFill>
            <a:srgbClr val="007499"/>
          </a:solidFill>
          <a:ln>
            <a:solidFill>
              <a:srgbClr val="007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PROJETO DEMONSTRATIVO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617720"/>
            <a:ext cx="46634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500" b="0" i="0">
                <a:solidFill>
                  <a:srgbClr val="5B6F7A"/>
                </a:solidFill>
                <a:latin typeface="Aptos"/>
              </a:rPr>
              <a:t>O foco dos testes é validar o comportamento do Service e suas interações.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900" b="1" i="0">
                <a:solidFill>
                  <a:srgbClr val="007499"/>
                </a:solidFill>
                <a:latin typeface="Aptos"/>
              </a:rPr>
              <a:t>PARTE 2 • APLICAÇÃO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700" b="1" i="0">
                <a:solidFill>
                  <a:srgbClr val="182F3E"/>
                </a:solidFill>
                <a:latin typeface="Aptos"/>
              </a:rPr>
              <a:t>Como funciona a criação de uma despesa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5B6F7A"/>
                </a:solidFill>
                <a:latin typeface="Aptos"/>
              </a:rPr>
              <a:t>O fluxo concentra validação, cálculo do orçamento, persistência e notificação.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1" i="0">
                <a:solidFill>
                  <a:srgbClr val="5B6F7A"/>
                </a:solidFill>
                <a:latin typeface="Aptos"/>
              </a:rPr>
              <a:t>QUALIDADE E TESTE DE SOFTWARE  •  TESTIFY + MONEYFLOW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 i="0">
                <a:solidFill>
                  <a:srgbClr val="007499"/>
                </a:solidFill>
                <a:latin typeface="Aptos"/>
              </a:rP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1188720" y="2057400"/>
            <a:ext cx="566928" cy="566928"/>
          </a:xfrm>
          <a:prstGeom prst="ellipse">
            <a:avLst/>
          </a:prstGeom>
          <a:solidFill>
            <a:srgbClr val="00ADD8"/>
          </a:solidFill>
          <a:ln>
            <a:solidFill>
              <a:srgbClr val="00A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16352"/>
            <a:ext cx="150876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182F3E"/>
                </a:solidFill>
                <a:latin typeface="Aptos"/>
              </a:rPr>
              <a:t>Normalizar
&amp; validar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2340864"/>
            <a:ext cx="1005840" cy="0"/>
          </a:xfrm>
          <a:prstGeom prst="line">
            <a:avLst/>
          </a:prstGeom>
          <a:ln w="25400">
            <a:solidFill>
              <a:srgbClr val="D0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520439" y="2057400"/>
            <a:ext cx="566928" cy="566928"/>
          </a:xfrm>
          <a:prstGeom prst="ellipse">
            <a:avLst/>
          </a:prstGeom>
          <a:solidFill>
            <a:srgbClr val="00ADD8"/>
          </a:solidFill>
          <a:ln>
            <a:solidFill>
              <a:srgbClr val="00A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39" y="2816352"/>
            <a:ext cx="150876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182F3E"/>
                </a:solidFill>
                <a:latin typeface="Aptos"/>
              </a:rPr>
              <a:t>Consultar
histórico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60520" y="2340864"/>
            <a:ext cx="1005840" cy="0"/>
          </a:xfrm>
          <a:prstGeom prst="line">
            <a:avLst/>
          </a:prstGeom>
          <a:ln w="25400">
            <a:solidFill>
              <a:srgbClr val="D0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852160" y="2057400"/>
            <a:ext cx="566928" cy="566928"/>
          </a:xfrm>
          <a:prstGeom prst="ellipse">
            <a:avLst/>
          </a:prstGeom>
          <a:solidFill>
            <a:srgbClr val="00ADD8"/>
          </a:solidFill>
          <a:ln>
            <a:solidFill>
              <a:srgbClr val="00A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816352"/>
            <a:ext cx="150876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182F3E"/>
                </a:solidFill>
                <a:latin typeface="Aptos"/>
              </a:rPr>
              <a:t>Calcular
saldo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92240" y="2340864"/>
            <a:ext cx="1005839" cy="0"/>
          </a:xfrm>
          <a:prstGeom prst="line">
            <a:avLst/>
          </a:prstGeom>
          <a:ln w="25400">
            <a:solidFill>
              <a:srgbClr val="D0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183879" y="2057400"/>
            <a:ext cx="566928" cy="566928"/>
          </a:xfrm>
          <a:prstGeom prst="ellipse">
            <a:avLst/>
          </a:prstGeom>
          <a:solidFill>
            <a:srgbClr val="00ADD8"/>
          </a:solidFill>
          <a:ln>
            <a:solidFill>
              <a:srgbClr val="00A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816352"/>
            <a:ext cx="150876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182F3E"/>
                </a:solidFill>
                <a:latin typeface="Aptos"/>
              </a:rPr>
              <a:t>Salvar
despesa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23959" y="2340864"/>
            <a:ext cx="1005841" cy="0"/>
          </a:xfrm>
          <a:prstGeom prst="line">
            <a:avLst/>
          </a:prstGeom>
          <a:ln w="25400">
            <a:solidFill>
              <a:srgbClr val="D0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515600" y="2057400"/>
            <a:ext cx="566928" cy="566928"/>
          </a:xfrm>
          <a:prstGeom prst="ellipse">
            <a:avLst/>
          </a:prstGeom>
          <a:solidFill>
            <a:srgbClr val="249B74"/>
          </a:solidFill>
          <a:ln>
            <a:solidFill>
              <a:srgbClr val="249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816352"/>
            <a:ext cx="150876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182F3E"/>
                </a:solidFill>
                <a:latin typeface="Aptos"/>
              </a:rPr>
              <a:t>Notificar se
zerar o saldo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60520"/>
            <a:ext cx="1051560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700" b="1" i="0">
                <a:solidFill>
                  <a:srgbClr val="263238"/>
                </a:solidFill>
                <a:latin typeface="Aptos"/>
              </a:rPr>
              <a:t>Se os dados forem inválidos, o orçamento for ultrapassado ou houver falha na consulta/gravação, a operação retorna um erro e não é concluída.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5257800"/>
            <a:ext cx="2926080" cy="329184"/>
          </a:xfrm>
          <a:prstGeom prst="roundRect">
            <a:avLst/>
          </a:prstGeom>
          <a:solidFill>
            <a:srgbClr val="007499"/>
          </a:solidFill>
          <a:ln>
            <a:solidFill>
              <a:srgbClr val="007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VALOR MONETÁRIO EM CENTAVOS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900" b="1" i="0">
                <a:solidFill>
                  <a:srgbClr val="007499"/>
                </a:solidFill>
                <a:latin typeface="Aptos"/>
              </a:rPr>
              <a:t>PARTE 2 • APLICAÇÃO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700" b="1" i="0">
                <a:solidFill>
                  <a:srgbClr val="182F3E"/>
                </a:solidFill>
                <a:latin typeface="Aptos"/>
              </a:rPr>
              <a:t>Estrutura do MoneyFlow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5B6F7A"/>
                </a:solidFill>
                <a:latin typeface="Aptos"/>
              </a:rPr>
              <a:t>A separação por responsabilidades facilita entender o que cada teste precisa verificar.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1" i="0">
                <a:solidFill>
                  <a:srgbClr val="5B6F7A"/>
                </a:solidFill>
                <a:latin typeface="Aptos"/>
              </a:rPr>
              <a:t>QUALIDADE E TESTE DE SOFTWARE  •  TESTIFY + MONEYFLOW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 i="0">
                <a:solidFill>
                  <a:srgbClr val="007499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3429000" cy="155448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92807"/>
            <a:ext cx="64008" cy="1335024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29384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Expense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50008"/>
            <a:ext cx="3044952" cy="8869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263238"/>
                </a:solidFill>
                <a:latin typeface="Aptos"/>
              </a:rPr>
              <a:t>Representa a despesa e suas validações.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1783080"/>
            <a:ext cx="3429000" cy="155448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1892807"/>
            <a:ext cx="64008" cy="1335024"/>
          </a:xfrm>
          <a:prstGeom prst="rect">
            <a:avLst/>
          </a:prstGeom>
          <a:solidFill>
            <a:srgbClr val="007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1929384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350008"/>
            <a:ext cx="3044952" cy="8869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263238"/>
                </a:solidFill>
                <a:latin typeface="Aptos"/>
              </a:rPr>
              <a:t>Define Save e List.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8" y="1783080"/>
            <a:ext cx="3429000" cy="155448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39328" y="1892807"/>
            <a:ext cx="64008" cy="1335024"/>
          </a:xfrm>
          <a:prstGeom prst="rect">
            <a:avLst/>
          </a:prstGeom>
          <a:solidFill>
            <a:srgbClr val="249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0496" y="1929384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MemoryRepository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2350008"/>
            <a:ext cx="3044952" cy="8869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263238"/>
                </a:solidFill>
                <a:latin typeface="Aptos"/>
              </a:rPr>
              <a:t>Implementa o repositório em memória.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749039"/>
            <a:ext cx="3429000" cy="155448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858768"/>
            <a:ext cx="64008" cy="1335024"/>
          </a:xfrm>
          <a:prstGeom prst="rect">
            <a:avLst/>
          </a:prstGeom>
          <a:solidFill>
            <a:srgbClr val="E0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895344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Notifier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315968"/>
            <a:ext cx="3044952" cy="8869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263238"/>
                </a:solidFill>
                <a:latin typeface="Aptos"/>
              </a:rPr>
              <a:t>Abstrai o envio de notificações.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98848" y="3749039"/>
            <a:ext cx="3429000" cy="155448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98848" y="3858768"/>
            <a:ext cx="64008" cy="1335024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0016" y="3895344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0016" y="4315968"/>
            <a:ext cx="3044952" cy="8869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263238"/>
                </a:solidFill>
                <a:latin typeface="Aptos"/>
              </a:rPr>
              <a:t>Coordena as regras de negócio.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39328" y="3749039"/>
            <a:ext cx="3429000" cy="155448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39328" y="3858768"/>
            <a:ext cx="64008" cy="1335024"/>
          </a:xfrm>
          <a:prstGeom prst="rect">
            <a:avLst/>
          </a:prstGeom>
          <a:solidFill>
            <a:srgbClr val="007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0496" y="3895344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cmd/demo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0496" y="4315968"/>
            <a:ext cx="3044952" cy="8869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263238"/>
                </a:solidFill>
                <a:latin typeface="Aptos"/>
              </a:rPr>
              <a:t>Demonstra o uso pelo terminal.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06440"/>
            <a:ext cx="10607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 i="0">
                <a:solidFill>
                  <a:srgbClr val="5B6F7A"/>
                </a:solidFill>
                <a:latin typeface="Aptos"/>
              </a:rPr>
              <a:t>Arquivos de teste: expense_test.go  •  service_mock_test.go  •  service_suite_test.go  •  mocks_test.go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900" b="1" i="0">
                <a:solidFill>
                  <a:srgbClr val="007499"/>
                </a:solidFill>
                <a:latin typeface="Aptos"/>
              </a:rPr>
              <a:t>PARTE 2 • APLICAÇÃO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700" b="1" i="0">
                <a:solidFill>
                  <a:srgbClr val="182F3E"/>
                </a:solidFill>
                <a:latin typeface="Aptos"/>
              </a:rPr>
              <a:t>Como o Testify foi aplicado no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5B6F7A"/>
                </a:solidFill>
                <a:latin typeface="Aptos"/>
              </a:rPr>
              <a:t>Os recursos da biblioteca foram usados em pontos diferentes da estratégia de testes.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1" i="0">
                <a:solidFill>
                  <a:srgbClr val="5B6F7A"/>
                </a:solidFill>
                <a:latin typeface="Aptos"/>
              </a:rPr>
              <a:t>QUALIDADE E TESTE DE SOFTWARE  •  TESTIFY + MONEYFLOW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 i="0">
                <a:solidFill>
                  <a:srgbClr val="007499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56231"/>
            <a:ext cx="1417320" cy="329184"/>
          </a:xfrm>
          <a:prstGeom prst="roundRect">
            <a:avLst/>
          </a:prstGeom>
          <a:solidFill>
            <a:srgbClr val="00ADD8"/>
          </a:solidFill>
          <a:ln>
            <a:solidFill>
              <a:srgbClr val="00A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assert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783080"/>
            <a:ext cx="8686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0" i="0">
                <a:solidFill>
                  <a:srgbClr val="263238"/>
                </a:solidFill>
                <a:latin typeface="Aptos"/>
              </a:rPr>
              <a:t>Verificar campos normalizados, valores, erros, listas, IDs e resultados do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07791"/>
            <a:ext cx="1417320" cy="329184"/>
          </a:xfrm>
          <a:prstGeom prst="roundRect">
            <a:avLst/>
          </a:prstGeom>
          <a:solidFill>
            <a:srgbClr val="007499"/>
          </a:solidFill>
          <a:ln>
            <a:solidFill>
              <a:srgbClr val="007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require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834639"/>
            <a:ext cx="8686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0" i="0">
                <a:solidFill>
                  <a:srgbClr val="263238"/>
                </a:solidFill>
                <a:latin typeface="Aptos"/>
              </a:rPr>
              <a:t>Garantir que operações essenciais não retornaram erro antes de analisar os dados.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59352"/>
            <a:ext cx="1417320" cy="329184"/>
          </a:xfrm>
          <a:prstGeom prst="roundRect">
            <a:avLst/>
          </a:prstGeom>
          <a:solidFill>
            <a:srgbClr val="249B74"/>
          </a:solidFill>
          <a:ln>
            <a:solidFill>
              <a:srgbClr val="249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886200"/>
            <a:ext cx="8686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0" i="0">
                <a:solidFill>
                  <a:srgbClr val="263238"/>
                </a:solidFill>
                <a:latin typeface="Aptos"/>
              </a:rPr>
              <a:t>Simular Repository e Notifier; controlar retornos e conferir chamadas.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010912"/>
            <a:ext cx="1417320" cy="329184"/>
          </a:xfrm>
          <a:prstGeom prst="roundRect">
            <a:avLst/>
          </a:prstGeom>
          <a:solidFill>
            <a:srgbClr val="E0A430"/>
          </a:solidFill>
          <a:ln>
            <a:solidFill>
              <a:srgbClr val="E0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937759"/>
            <a:ext cx="8686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0" i="0">
                <a:solidFill>
                  <a:srgbClr val="263238"/>
                </a:solidFill>
                <a:latin typeface="Aptos"/>
              </a:rPr>
              <a:t>Agrupar cenários do Service e recriar dependências para isolar cada teste.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900" b="1" i="0">
                <a:solidFill>
                  <a:srgbClr val="007499"/>
                </a:solidFill>
                <a:latin typeface="Aptos"/>
              </a:rPr>
              <a:t>PARTE 2 • APLICAÇÃO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700" b="1" i="0">
                <a:solidFill>
                  <a:srgbClr val="182F3E"/>
                </a:solidFill>
                <a:latin typeface="Aptos"/>
              </a:rPr>
              <a:t>Mock x Fake no MoneyFlow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5B6F7A"/>
                </a:solidFill>
                <a:latin typeface="Aptos"/>
              </a:rPr>
              <a:t>Ambos substituem dependências reais em testes, mas têm comportamentos diferentes.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1" i="0">
                <a:solidFill>
                  <a:srgbClr val="5B6F7A"/>
                </a:solidFill>
                <a:latin typeface="Aptos"/>
              </a:rPr>
              <a:t>QUALIDADE E TESTE DE SOFTWARE  •  TESTIFY + MONEYFLOW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 i="0">
                <a:solidFill>
                  <a:srgbClr val="007499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5166360" cy="246888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938528"/>
            <a:ext cx="64008" cy="2249424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975104"/>
            <a:ext cx="4800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MOCK  •  Testify/mock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95728"/>
            <a:ext cx="4782312" cy="1801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500" b="0" i="0">
                <a:solidFill>
                  <a:srgbClr val="263238"/>
                </a:solidFill>
                <a:latin typeface="Aptos"/>
              </a:rPr>
              <a:t>MockRepository e MockNotifier
• Respostas programadas pelo teste.
• Permite conferir argumentos e quantidade de chamadas.
• Usa On, Return, Once e AssertExpectations.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166360" cy="246888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938528"/>
            <a:ext cx="64008" cy="2249424"/>
          </a:xfrm>
          <a:prstGeom prst="rect">
            <a:avLst/>
          </a:prstGeom>
          <a:solidFill>
            <a:srgbClr val="249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975104"/>
            <a:ext cx="4800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FAKE  •  Implementação do projeto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395728"/>
            <a:ext cx="4782312" cy="1801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500" b="0" i="0">
                <a:solidFill>
                  <a:srgbClr val="263238"/>
                </a:solidFill>
                <a:latin typeface="Aptos"/>
              </a:rPr>
              <a:t>MemoryRepository
• Guarda despesas em uma coleção em memória.
• Executa Save e List de forma funcional e simplificada.
• Não é um pacote do Testify.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92040"/>
            <a:ext cx="100584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700" b="1" i="0">
                <a:solidFill>
                  <a:srgbClr val="182F3E"/>
                </a:solidFill>
                <a:latin typeface="Aptos"/>
              </a:rPr>
              <a:t>Resumo: o Mock verifica interações programadas; o Fake oferece um comportamento simplificado, mas funcional.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900" b="1" i="0">
                <a:solidFill>
                  <a:srgbClr val="007499"/>
                </a:solidFill>
                <a:latin typeface="Aptos"/>
              </a:rPr>
              <a:t>PARTE 2 • APLICAÇÃO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700" b="1" i="0">
                <a:solidFill>
                  <a:srgbClr val="182F3E"/>
                </a:solidFill>
                <a:latin typeface="Aptos"/>
              </a:rPr>
              <a:t>Quais cenários foram testados?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5B6F7A"/>
                </a:solidFill>
                <a:latin typeface="Aptos"/>
              </a:rPr>
              <a:t>Os testes cobrem comportamentos esperados e situações de erro nas regras de negócio.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1" i="0">
                <a:solidFill>
                  <a:srgbClr val="5B6F7A"/>
                </a:solidFill>
                <a:latin typeface="Aptos"/>
              </a:rPr>
              <a:t>QUALIDADE E TESTE DE SOFTWARE  •  TESTIFY + MONEYFLOW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 i="0">
                <a:solidFill>
                  <a:srgbClr val="007499"/>
                </a:solidFill>
                <a:latin typeface="Aptos"/>
              </a:rPr>
              <a:t>14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728216"/>
            <a:ext cx="329184" cy="329184"/>
          </a:xfrm>
          <a:prstGeom prst="ellipse">
            <a:avLst/>
          </a:prstGeom>
          <a:solidFill>
            <a:srgbClr val="249B74"/>
          </a:solidFill>
          <a:ln>
            <a:solidFill>
              <a:srgbClr val="249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91640"/>
            <a:ext cx="2011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182F3E"/>
                </a:solidFill>
                <a:latin typeface="Aptos"/>
              </a:rPr>
              <a:t>Normalização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691640"/>
            <a:ext cx="3063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5B6F7A"/>
                </a:solidFill>
                <a:latin typeface="Aptos"/>
              </a:rPr>
              <a:t>Remove espaços e padroniza categoria.</a:t>
            </a:r>
          </a:p>
        </p:txBody>
      </p:sp>
      <p:sp>
        <p:nvSpPr>
          <p:cNvPr id="11" name="Oval 10"/>
          <p:cNvSpPr/>
          <p:nvPr/>
        </p:nvSpPr>
        <p:spPr>
          <a:xfrm>
            <a:off x="6355080" y="1728216"/>
            <a:ext cx="329184" cy="329184"/>
          </a:xfrm>
          <a:prstGeom prst="ellipse">
            <a:avLst/>
          </a:prstGeom>
          <a:solidFill>
            <a:srgbClr val="249B74"/>
          </a:solidFill>
          <a:ln>
            <a:solidFill>
              <a:srgbClr val="249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691640"/>
            <a:ext cx="2011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182F3E"/>
                </a:solidFill>
                <a:latin typeface="Aptos"/>
              </a:rPr>
              <a:t>Validação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691640"/>
            <a:ext cx="3063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5B6F7A"/>
                </a:solidFill>
                <a:latin typeface="Aptos"/>
              </a:rPr>
              <a:t>Rejeita valor zero, negativo ou descrição vazia.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98064"/>
            <a:ext cx="329184" cy="329184"/>
          </a:xfrm>
          <a:prstGeom prst="ellipse">
            <a:avLst/>
          </a:prstGeom>
          <a:solidFill>
            <a:srgbClr val="249B74"/>
          </a:solidFill>
          <a:ln>
            <a:solidFill>
              <a:srgbClr val="249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761488"/>
            <a:ext cx="2011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182F3E"/>
                </a:solidFill>
                <a:latin typeface="Aptos"/>
              </a:rPr>
              <a:t>Limite do orçamento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761488"/>
            <a:ext cx="3063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5B6F7A"/>
                </a:solidFill>
                <a:latin typeface="Aptos"/>
              </a:rPr>
              <a:t>Rejeita despesa acima do saldo e verifica que Save não foi chamado.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98064"/>
            <a:ext cx="329184" cy="329184"/>
          </a:xfrm>
          <a:prstGeom prst="ellipse">
            <a:avLst/>
          </a:prstGeom>
          <a:solidFill>
            <a:srgbClr val="249B74"/>
          </a:solidFill>
          <a:ln>
            <a:solidFill>
              <a:srgbClr val="249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761488"/>
            <a:ext cx="2011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182F3E"/>
                </a:solidFill>
                <a:latin typeface="Aptos"/>
              </a:rPr>
              <a:t>Falhas do repositório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761488"/>
            <a:ext cx="3063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5B6F7A"/>
                </a:solidFill>
                <a:latin typeface="Aptos"/>
              </a:rPr>
              <a:t>Simula erros na consulta ou gravação.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867911"/>
            <a:ext cx="329184" cy="329184"/>
          </a:xfrm>
          <a:prstGeom prst="ellipse">
            <a:avLst/>
          </a:prstGeom>
          <a:solidFill>
            <a:srgbClr val="249B74"/>
          </a:solidFill>
          <a:ln>
            <a:solidFill>
              <a:srgbClr val="249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831335"/>
            <a:ext cx="2011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182F3E"/>
                </a:solidFill>
                <a:latin typeface="Aptos"/>
              </a:rPr>
              <a:t>Identificadores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831335"/>
            <a:ext cx="3063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5B6F7A"/>
                </a:solidFill>
                <a:latin typeface="Aptos"/>
              </a:rPr>
              <a:t>Confere sequência exp-1, exp-2 e assim por diante.</a:t>
            </a:r>
          </a:p>
        </p:txBody>
      </p:sp>
      <p:sp>
        <p:nvSpPr>
          <p:cNvPr id="23" name="Oval 22"/>
          <p:cNvSpPr/>
          <p:nvPr/>
        </p:nvSpPr>
        <p:spPr>
          <a:xfrm>
            <a:off x="6355080" y="3867911"/>
            <a:ext cx="329184" cy="329184"/>
          </a:xfrm>
          <a:prstGeom prst="ellipse">
            <a:avLst/>
          </a:prstGeom>
          <a:solidFill>
            <a:srgbClr val="249B74"/>
          </a:solidFill>
          <a:ln>
            <a:solidFill>
              <a:srgbClr val="249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831335"/>
            <a:ext cx="2011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182F3E"/>
                </a:solidFill>
                <a:latin typeface="Aptos"/>
              </a:rPr>
              <a:t>Notificação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831335"/>
            <a:ext cx="3063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5B6F7A"/>
                </a:solidFill>
                <a:latin typeface="Aptos"/>
              </a:rPr>
              <a:t>Notifica ao consumir todo o orçamento; não notifica antes.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937759"/>
            <a:ext cx="329184" cy="329184"/>
          </a:xfrm>
          <a:prstGeom prst="ellipse">
            <a:avLst/>
          </a:prstGeom>
          <a:solidFill>
            <a:srgbClr val="249B74"/>
          </a:solidFill>
          <a:ln>
            <a:solidFill>
              <a:srgbClr val="249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901183"/>
            <a:ext cx="2011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182F3E"/>
                </a:solidFill>
                <a:latin typeface="Aptos"/>
              </a:rPr>
              <a:t>Saldo e histórico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901183"/>
            <a:ext cx="3063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5B6F7A"/>
                </a:solidFill>
                <a:latin typeface="Aptos"/>
              </a:rPr>
              <a:t>Confere despesas aceitas, saldo e listagem.</a:t>
            </a:r>
          </a:p>
        </p:txBody>
      </p:sp>
      <p:sp>
        <p:nvSpPr>
          <p:cNvPr id="29" name="Oval 28"/>
          <p:cNvSpPr/>
          <p:nvPr/>
        </p:nvSpPr>
        <p:spPr>
          <a:xfrm>
            <a:off x="6355080" y="4937759"/>
            <a:ext cx="329184" cy="329184"/>
          </a:xfrm>
          <a:prstGeom prst="ellipse">
            <a:avLst/>
          </a:prstGeom>
          <a:solidFill>
            <a:srgbClr val="249B74"/>
          </a:solidFill>
          <a:ln>
            <a:solidFill>
              <a:srgbClr val="249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901183"/>
            <a:ext cx="2011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182F3E"/>
                </a:solidFill>
                <a:latin typeface="Aptos"/>
              </a:rPr>
              <a:t>Percentual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901183"/>
            <a:ext cx="3063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5B6F7A"/>
                </a:solidFill>
                <a:latin typeface="Aptos"/>
              </a:rPr>
              <a:t>Verifica 33,33% de uso com tolerância usando InDelta.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900" b="1" i="0">
                <a:solidFill>
                  <a:srgbClr val="007499"/>
                </a:solidFill>
                <a:latin typeface="Aptos"/>
              </a:rPr>
              <a:t>PARTE 2 • APLICAÇÃO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700" b="1" i="0">
                <a:solidFill>
                  <a:srgbClr val="182F3E"/>
                </a:solidFill>
                <a:latin typeface="Aptos"/>
              </a:rPr>
              <a:t>Como executar e observar os testes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5B6F7A"/>
                </a:solidFill>
                <a:latin typeface="Aptos"/>
              </a:rPr>
              <a:t>Os comandos permitem rodar a demonstração, executar a suíte e consultar a cobertura.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1" i="0">
                <a:solidFill>
                  <a:srgbClr val="5B6F7A"/>
                </a:solidFill>
                <a:latin typeface="Aptos"/>
              </a:rPr>
              <a:t>QUALIDADE E TESTE DE SOFTWARE  •  TESTIFY + MONEYFLOW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 i="0">
                <a:solidFill>
                  <a:srgbClr val="007499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83080"/>
            <a:ext cx="5166360" cy="132588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892807"/>
            <a:ext cx="64008" cy="1106424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929384"/>
            <a:ext cx="4800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Demonstração interativa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478231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500" b="0" i="0">
                <a:solidFill>
                  <a:srgbClr val="263238"/>
                </a:solidFill>
                <a:latin typeface="Aptos"/>
              </a:rPr>
              <a:t>go run ./cmd/demo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66360" cy="132588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92807"/>
            <a:ext cx="64008" cy="1106424"/>
          </a:xfrm>
          <a:prstGeom prst="rect">
            <a:avLst/>
          </a:prstGeom>
          <a:solidFill>
            <a:srgbClr val="007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929384"/>
            <a:ext cx="4800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Todos os testes, com detalhes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350008"/>
            <a:ext cx="478231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500" b="0" i="0">
                <a:solidFill>
                  <a:srgbClr val="263238"/>
                </a:solidFill>
                <a:latin typeface="Aptos"/>
              </a:rPr>
              <a:t>go test ./... -v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429000"/>
            <a:ext cx="5166360" cy="132588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3538728"/>
            <a:ext cx="64008" cy="1106424"/>
          </a:xfrm>
          <a:prstGeom prst="rect">
            <a:avLst/>
          </a:prstGeom>
          <a:solidFill>
            <a:srgbClr val="249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575304"/>
            <a:ext cx="4800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Cobertura dos pacotes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3995928"/>
            <a:ext cx="478231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500" b="0" i="0">
                <a:solidFill>
                  <a:srgbClr val="263238"/>
                </a:solidFill>
                <a:latin typeface="Aptos"/>
              </a:rPr>
              <a:t>go test -cover ./...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429000"/>
            <a:ext cx="5166360" cy="132588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538728"/>
            <a:ext cx="64008" cy="1106424"/>
          </a:xfrm>
          <a:prstGeom prst="rect">
            <a:avLst/>
          </a:prstGeom>
          <a:solidFill>
            <a:srgbClr val="E0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3575304"/>
            <a:ext cx="4800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Teste específico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3995928"/>
            <a:ext cx="478231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0" i="0">
                <a:solidFill>
                  <a:srgbClr val="263238"/>
                </a:solidFill>
                <a:latin typeface="Aptos"/>
              </a:rPr>
              <a:t>go test -run TestMustNewExpense -v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257800"/>
            <a:ext cx="10424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CF4B4B"/>
                </a:solidFill>
                <a:latin typeface="Aptos"/>
              </a:rPr>
              <a:t>Cobertura mostra quais partes foram exercitadas, mas um percentual alto não garante, sozinho, que os cenários importantes estejam bem verificados.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900" b="1" i="0">
                <a:solidFill>
                  <a:srgbClr val="007499"/>
                </a:solidFill>
                <a:latin typeface="Aptos"/>
              </a:rPr>
              <a:t>PARTE 2 • 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700" b="1" i="0">
                <a:solidFill>
                  <a:srgbClr val="182F3E"/>
                </a:solidFill>
                <a:latin typeface="Aptos"/>
              </a:rPr>
              <a:t>O que a aplicação demonstrou?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5B6F7A"/>
                </a:solidFill>
                <a:latin typeface="Aptos"/>
              </a:rPr>
              <a:t>A ferramenta contribui para a qualidade dos testes, mas não substitui o planejamento de quem testa.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1" i="0">
                <a:solidFill>
                  <a:srgbClr val="5B6F7A"/>
                </a:solidFill>
                <a:latin typeface="Aptos"/>
              </a:rPr>
              <a:t>QUALIDADE E TESTE DE SOFTWARE  •  TESTIFY + MONEYFLOW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 i="0">
                <a:solidFill>
                  <a:srgbClr val="007499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83080"/>
            <a:ext cx="5166360" cy="310896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892807"/>
            <a:ext cx="64008" cy="2889504"/>
          </a:xfrm>
          <a:prstGeom prst="rect">
            <a:avLst/>
          </a:prstGeom>
          <a:solidFill>
            <a:srgbClr val="249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929384"/>
            <a:ext cx="4800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BENEFÍCIOS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4782312" cy="2441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500" b="0" i="0">
                <a:solidFill>
                  <a:srgbClr val="263238"/>
                </a:solidFill>
                <a:latin typeface="Aptos"/>
              </a:rPr>
              <a:t>• Verificações mais legíveis com assert e require.
• Isolamento de dependências com mocks.
• Controle das chamadas esperadas.
• Organização de cenários com suite.
• Execução reproduzível com repositório em memória.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66360" cy="310896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92807"/>
            <a:ext cx="64008" cy="2889504"/>
          </a:xfrm>
          <a:prstGeom prst="rect">
            <a:avLst/>
          </a:prstGeom>
          <a:solidFill>
            <a:srgbClr val="E0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929384"/>
            <a:ext cx="4800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PONTOS DE ATENÇÃO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350008"/>
            <a:ext cx="4782312" cy="2441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500" b="0" i="0">
                <a:solidFill>
                  <a:srgbClr val="263238"/>
                </a:solidFill>
                <a:latin typeface="Aptos"/>
              </a:rPr>
              <a:t>• É uma dependência adicional do projeto.
• Os cenários precisam ser definidos pelo desenvolvedor.
• Cobertura não é sinônimo de qualidade.
• Mocks em excesso podem acoplar testes à implementação.
• suite não deve ser combinada com t.Parallel().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492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5B6F7A"/>
                </a:solidFill>
                <a:latin typeface="Aptos"/>
              </a:rPr>
              <a:t>O MoneyFlow é demonstrativo: não representa uma solução de produção com banco de dados, autenticação ou API.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900" b="1" i="0">
                <a:solidFill>
                  <a:srgbClr val="007499"/>
                </a:solidFill>
                <a:latin typeface="Aptos"/>
              </a:rPr>
              <a:t>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700" b="1" i="0">
                <a:solidFill>
                  <a:srgbClr val="182F3E"/>
                </a:solidFill>
                <a:latin typeface="Aptos"/>
              </a:rPr>
              <a:t>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5B6F7A"/>
                </a:solidFill>
                <a:latin typeface="Aptos"/>
              </a:rPr>
              <a:t>O principal aprendizado: testar não é apenas executar código — é verificar comportamentos importantes.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1" i="0">
                <a:solidFill>
                  <a:srgbClr val="5B6F7A"/>
                </a:solidFill>
                <a:latin typeface="Aptos"/>
              </a:rPr>
              <a:t>QUALIDADE E TESTE DE SOFTWARE  •  TESTIFY + MONEYFLOW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 i="0">
                <a:solidFill>
                  <a:srgbClr val="007499"/>
                </a:solidFill>
                <a:latin typeface="Apto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42416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500" b="1" i="0">
                <a:solidFill>
                  <a:srgbClr val="182F3E"/>
                </a:solidFill>
                <a:latin typeface="Aptos"/>
              </a:rPr>
              <a:t>Testify complementa o testing do Go e ajuda a construir testes mais claros, controlados e organizados.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3246120"/>
            <a:ext cx="2971800" cy="137160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4440" y="3355848"/>
            <a:ext cx="64008" cy="1152144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35608" y="3392424"/>
            <a:ext cx="26060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VERIFICAR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3813048"/>
            <a:ext cx="258775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0" i="0">
                <a:solidFill>
                  <a:srgbClr val="263238"/>
                </a:solidFill>
                <a:latin typeface="Aptos"/>
              </a:rPr>
              <a:t>assert e require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246120"/>
            <a:ext cx="2971800" cy="137160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3355848"/>
            <a:ext cx="64008" cy="1152144"/>
          </a:xfrm>
          <a:prstGeom prst="rect">
            <a:avLst/>
          </a:prstGeom>
          <a:solidFill>
            <a:srgbClr val="007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6048" y="3392424"/>
            <a:ext cx="26060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ISOLAR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3813048"/>
            <a:ext cx="258775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0" i="0">
                <a:solidFill>
                  <a:srgbClr val="263238"/>
                </a:solidFill>
                <a:latin typeface="Aptos"/>
              </a:rPr>
              <a:t>mock e Fake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3246120"/>
            <a:ext cx="2971800" cy="1371600"/>
          </a:xfrm>
          <a:prstGeom prst="roundRect">
            <a:avLst/>
          </a:prstGeom>
          <a:solidFill>
            <a:srgbClr val="F4F9FB"/>
          </a:solidFill>
          <a:ln>
            <a:solidFill>
              <a:srgbClr val="D0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3355848"/>
            <a:ext cx="64008" cy="1152144"/>
          </a:xfrm>
          <a:prstGeom prst="rect">
            <a:avLst/>
          </a:prstGeom>
          <a:solidFill>
            <a:srgbClr val="249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3392424"/>
            <a:ext cx="26060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1" i="0">
                <a:solidFill>
                  <a:srgbClr val="182F3E"/>
                </a:solidFill>
                <a:latin typeface="Aptos"/>
              </a:rPr>
              <a:t>ORGANIZAR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3813048"/>
            <a:ext cx="258775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0" i="0">
                <a:solidFill>
                  <a:srgbClr val="263238"/>
                </a:solidFill>
                <a:latin typeface="Aptos"/>
              </a:rPr>
              <a:t>suite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600" b="1" i="0">
                <a:solidFill>
                  <a:srgbClr val="263238"/>
                </a:solidFill>
                <a:latin typeface="Aptos"/>
              </a:rPr>
              <a:t>A qualidade final depende da escolha de bons cenários, da clareza das verificações e da manutenção dos testes.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900" b="1" i="0">
                <a:solidFill>
                  <a:srgbClr val="007499"/>
                </a:solidFill>
                <a:latin typeface="Aptos"/>
              </a:rPr>
              <a:t>FONTES CONSULTADAS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700" b="1" i="0">
                <a:solidFill>
                  <a:srgbClr val="182F3E"/>
                </a:solidFill>
                <a:latin typeface="Aptos"/>
              </a:rPr>
              <a:t>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0" i="0">
                <a:solidFill>
                  <a:srgbClr val="5B6F7A"/>
                </a:solidFill>
                <a:latin typeface="Aptos"/>
              </a:rPr>
              <a:t>Documentação oficial utilizada como base conceitual e técnica.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1" i="0">
                <a:solidFill>
                  <a:srgbClr val="5B6F7A"/>
                </a:solidFill>
                <a:latin typeface="Aptos"/>
              </a:rPr>
              <a:t>QUALIDADE E TESTE DE SOFTWARE  •  TESTIFY + MONEYFLOW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 i="0">
                <a:solidFill>
                  <a:srgbClr val="007499"/>
                </a:solidFill>
                <a:latin typeface="Apto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182F3E"/>
                </a:solidFill>
                <a:latin typeface="Aptos"/>
              </a:rPr>
              <a:t>Testify • Repositório oficial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645920"/>
            <a:ext cx="7589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007499"/>
                </a:solidFill>
                <a:latin typeface="Aptos"/>
              </a:rPr>
              <a:t>https://github.com/stretchr/testify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59152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182F3E"/>
                </a:solidFill>
                <a:latin typeface="Aptos"/>
              </a:rPr>
              <a:t>Testify • Documentação geral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59152"/>
            <a:ext cx="7589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007499"/>
                </a:solidFill>
                <a:latin typeface="Aptos"/>
              </a:rPr>
              <a:t>https://pkg.go.dev/github.com/stretchr/testify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72384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182F3E"/>
                </a:solidFill>
                <a:latin typeface="Aptos"/>
              </a:rPr>
              <a:t>Testify • assert / require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72384"/>
            <a:ext cx="7589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007499"/>
                </a:solidFill>
                <a:latin typeface="Aptos"/>
              </a:rPr>
              <a:t>https://pkg.go.dev/github.com/stretchr/testify/assert  |  pkg.go.dev/github.com/stretchr/testify/require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85615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182F3E"/>
                </a:solidFill>
                <a:latin typeface="Aptos"/>
              </a:rPr>
              <a:t>Testify • mock / 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785615"/>
            <a:ext cx="7589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007499"/>
                </a:solidFill>
                <a:latin typeface="Aptos"/>
              </a:rPr>
              <a:t>https://pkg.go.dev/github.com/stretchr/testify/mock  |  pkg.go.dev/github.com/stretchr/testify/suite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98848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182F3E"/>
                </a:solidFill>
                <a:latin typeface="Aptos"/>
              </a:rPr>
              <a:t>Go • pacote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498848"/>
            <a:ext cx="7589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007499"/>
                </a:solidFill>
                <a:latin typeface="Aptos"/>
              </a:rPr>
              <a:t>https://pkg.go.dev/testing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12080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182F3E"/>
                </a:solidFill>
                <a:latin typeface="Aptos"/>
              </a:rPr>
              <a:t>Go • documentação sobre testes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212080"/>
            <a:ext cx="7589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007499"/>
                </a:solidFill>
                <a:latin typeface="Aptos"/>
              </a:rPr>
              <a:t>https://go.dev/doc/code#Testing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